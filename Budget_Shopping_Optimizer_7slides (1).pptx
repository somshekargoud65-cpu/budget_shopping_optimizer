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9703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5BD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92608"/>
            <a:ext cx="82296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BA8"/>
                </a:solidFill>
              </a:rPr>
              <a:t>Budget Shopping Optimizer</a:t>
            </a:r>
            <a:endParaRPr lang="en-US" sz="90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B2A5B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kern="0" spc="300" dirty="0">
                <a:solidFill>
                  <a:srgbClr val="F59E0B"/>
                </a:solidFill>
              </a:rPr>
              <a:t>B.TECH MINI PROJECT</a:t>
            </a:r>
            <a:endParaRPr lang="en-US" sz="1416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720" b="1" dirty="0">
                <a:solidFill>
                  <a:srgbClr val="FFFFFF"/>
                </a:solidFill>
              </a:rPr>
              <a:t>Budget Shopping</a:t>
            </a:r>
            <a:endParaRPr lang="en-US" sz="4720" dirty="0"/>
          </a:p>
          <a:p>
            <a:pPr marL="0" indent="0">
              <a:buNone/>
            </a:pPr>
            <a:r>
              <a:rPr lang="en-US" sz="4720" b="1" dirty="0">
                <a:solidFill>
                  <a:srgbClr val="FFFFFF"/>
                </a:solidFill>
              </a:rPr>
              <a:t>Optimizer</a:t>
            </a:r>
            <a:endParaRPr lang="en-US" sz="472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88" dirty="0">
                <a:solidFill>
                  <a:srgbClr val="BFD4F6"/>
                </a:solidFill>
              </a:rPr>
              <a:t>Priority-Based Smart Shopping using 0/1 Knapsack</a:t>
            </a:r>
            <a:endParaRPr lang="en-US" sz="1888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4754880" cy="18288"/>
          </a:xfrm>
          <a:prstGeom prst="rect">
            <a:avLst/>
          </a:prstGeom>
          <a:solidFill>
            <a:srgbClr val="3B5E9E"/>
          </a:solidFill>
          <a:ln w="9525">
            <a:solidFill>
              <a:srgbClr val="3B5E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1089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16" dirty="0">
                <a:solidFill>
                  <a:srgbClr val="8FB0E8"/>
                </a:solidFill>
              </a:rPr>
              <a:t>Student Name: </a:t>
            </a:r>
            <a:r>
              <a:rPr lang="en-US" sz="1416" b="1" dirty="0">
                <a:solidFill>
                  <a:srgbClr val="FFFFFF"/>
                </a:solidFill>
              </a:rPr>
              <a:t>[Team-4]
</a:t>
            </a:r>
            <a:r>
              <a:rPr lang="en-US" sz="1416" dirty="0">
                <a:solidFill>
                  <a:srgbClr val="8FB0E8"/>
                </a:solidFill>
              </a:rPr>
              <a:t>Roll Number: </a:t>
            </a:r>
            <a:r>
              <a:rPr lang="en-US" sz="1416" b="1" dirty="0">
                <a:solidFill>
                  <a:srgbClr val="FFFFFF"/>
                </a:solidFill>
              </a:rPr>
              <a:t>[25MVCSMR0587,604,597,585]
</a:t>
            </a:r>
            <a:r>
              <a:rPr lang="en-US" sz="1416" dirty="0">
                <a:solidFill>
                  <a:srgbClr val="8FB0E8"/>
                </a:solidFill>
              </a:rPr>
              <a:t>Department: </a:t>
            </a:r>
            <a:r>
              <a:rPr lang="en-US" sz="1416" b="1" dirty="0">
                <a:solidFill>
                  <a:srgbClr val="FFFFFF"/>
                </a:solidFill>
              </a:rPr>
              <a:t>[CSM]
</a:t>
            </a:r>
            <a:r>
              <a:rPr lang="en-US" sz="1416" dirty="0">
                <a:solidFill>
                  <a:srgbClr val="8FB0E8"/>
                </a:solidFill>
              </a:rPr>
              <a:t>College: </a:t>
            </a:r>
            <a:r>
              <a:rPr lang="en-US" sz="1416" b="1" dirty="0">
                <a:solidFill>
                  <a:srgbClr val="FFFFFF"/>
                </a:solidFill>
              </a:rPr>
              <a:t>[MRTC]
</a:t>
            </a:r>
            <a:r>
              <a:rPr lang="en-US" sz="1416" dirty="0">
                <a:solidFill>
                  <a:srgbClr val="8FB0E8"/>
                </a:solidFill>
              </a:rPr>
              <a:t>Academic Year: </a:t>
            </a:r>
            <a:r>
              <a:rPr lang="en-US" sz="1416" b="1" dirty="0">
                <a:solidFill>
                  <a:srgbClr val="FFFFFF"/>
                </a:solidFill>
              </a:rPr>
              <a:t>[2026–2027]</a:t>
            </a:r>
            <a:endParaRPr lang="en-US" sz="1416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468880" cy="2468880"/>
          </a:xfrm>
          <a:prstGeom prst="ellipse">
            <a:avLst/>
          </a:prstGeom>
          <a:solidFill>
            <a:srgbClr val="12408A"/>
          </a:solidFill>
          <a:ln w="25400">
            <a:solidFill>
              <a:srgbClr val="3B7B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1430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60" dirty="0">
                <a:solidFill>
                  <a:srgbClr val="1F2937"/>
                </a:solidFill>
              </a:rPr>
              <a:t>🛒</a:t>
            </a:r>
            <a:endParaRPr lang="en-US" sz="826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3774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192" b="1" dirty="0">
                <a:solidFill>
                  <a:srgbClr val="F59E0B"/>
                </a:solidFill>
              </a:rPr>
              <a:t>₹</a:t>
            </a:r>
            <a:endParaRPr lang="en-US" sz="5192" dirty="0"/>
          </a:p>
        </p:txBody>
      </p:sp>
      <p:sp>
        <p:nvSpPr>
          <p:cNvPr id="11" name="Shape 9"/>
          <p:cNvSpPr/>
          <p:nvPr/>
        </p:nvSpPr>
        <p:spPr>
          <a:xfrm>
            <a:off x="7955280" y="7315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0B2A5B"/>
                </a:solidFill>
              </a:rPr>
              <a:t>0/1</a:t>
            </a:r>
            <a:endParaRPr lang="en-US" sz="2124" dirty="0"/>
          </a:p>
        </p:txBody>
      </p:sp>
      <p:sp>
        <p:nvSpPr>
          <p:cNvPr id="13" name="Shape 11"/>
          <p:cNvSpPr/>
          <p:nvPr/>
        </p:nvSpPr>
        <p:spPr>
          <a:xfrm>
            <a:off x="5943600" y="37033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2408A"/>
          </a:solidFill>
          <a:ln w="9525">
            <a:solidFill>
              <a:srgbClr val="3B7B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3703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₹ Budget</a:t>
            </a:r>
            <a:endParaRPr lang="en-US" sz="1298" dirty="0"/>
          </a:p>
        </p:txBody>
      </p:sp>
      <p:sp>
        <p:nvSpPr>
          <p:cNvPr id="15" name="Shape 13"/>
          <p:cNvSpPr/>
          <p:nvPr/>
        </p:nvSpPr>
        <p:spPr>
          <a:xfrm>
            <a:off x="7040880" y="370332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12408A"/>
          </a:solidFill>
          <a:ln w="9525">
            <a:solidFill>
              <a:srgbClr val="3B7B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703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Value</a:t>
            </a:r>
            <a:endParaRPr lang="en-US" sz="1298" dirty="0"/>
          </a:p>
        </p:txBody>
      </p:sp>
      <p:sp>
        <p:nvSpPr>
          <p:cNvPr id="17" name="Shape 15"/>
          <p:cNvSpPr/>
          <p:nvPr/>
        </p:nvSpPr>
        <p:spPr>
          <a:xfrm>
            <a:off x="7955280" y="370332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12408A"/>
          </a:solidFill>
          <a:ln w="9525">
            <a:solidFill>
              <a:srgbClr val="3B7B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55280" y="37033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DP</a:t>
            </a:r>
            <a:endParaRPr lang="en-US" sz="129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Abstract, Problem &amp;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93" dirty="0">
                <a:solidFill>
                  <a:srgbClr val="0B2A5B"/>
                </a:solidFill>
              </a:rPr>
              <a:t>Budget Shopping Optimizer helps users pick the best combination of products within a fixed budget, using product price and value.</a:t>
            </a:r>
            <a:endParaRPr lang="en-US" sz="1593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1" b="1" dirty="0">
                <a:solidFill>
                  <a:srgbClr val="FFFFFF"/>
                </a:solidFill>
              </a:rPr>
              <a:t>Budget + Products + Value</a:t>
            </a:r>
            <a:endParaRPr lang="en-US" sz="1121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0116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6" b="1" dirty="0">
                <a:solidFill>
                  <a:srgbClr val="0B2A5B"/>
                </a:solidFill>
              </a:rPr>
              <a:t>→</a:t>
            </a:r>
            <a:endParaRPr lang="en-US" sz="1416" dirty="0"/>
          </a:p>
        </p:txBody>
      </p:sp>
      <p:sp>
        <p:nvSpPr>
          <p:cNvPr id="7" name="Shape 5"/>
          <p:cNvSpPr/>
          <p:nvPr/>
        </p:nvSpPr>
        <p:spPr>
          <a:xfrm>
            <a:off x="187452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2024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1" b="1" dirty="0">
                <a:solidFill>
                  <a:srgbClr val="0B2A5B"/>
                </a:solidFill>
              </a:rPr>
              <a:t>Optimization</a:t>
            </a:r>
            <a:endParaRPr lang="en-US" sz="1121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011680"/>
            <a:ext cx="137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6" b="1" dirty="0">
                <a:solidFill>
                  <a:srgbClr val="0B2A5B"/>
                </a:solidFill>
              </a:rPr>
              <a:t>→</a:t>
            </a:r>
            <a:endParaRPr lang="en-US" sz="1416" dirty="0"/>
          </a:p>
        </p:txBody>
      </p:sp>
      <p:sp>
        <p:nvSpPr>
          <p:cNvPr id="10" name="Shape 8"/>
          <p:cNvSpPr/>
          <p:nvPr/>
        </p:nvSpPr>
        <p:spPr>
          <a:xfrm>
            <a:off x="3291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1" b="1" dirty="0">
                <a:solidFill>
                  <a:srgbClr val="FFFFFF"/>
                </a:solidFill>
              </a:rPr>
              <a:t>Smart Basket</a:t>
            </a:r>
            <a:endParaRPr lang="en-US" sz="1121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F59E0B"/>
                </a:solidFill>
              </a:rPr>
              <a:t>⚠️ PROBLEM</a:t>
            </a:r>
            <a:endParaRPr lang="en-US" sz="1416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93" dirty="0">
                <a:solidFill>
                  <a:srgbClr val="FFFFFF"/>
                </a:solidFill>
              </a:rPr>
              <a:t>Users need several products on a limited budget. Comparing combinations manually can cause overspending or missed products.</a:t>
            </a:r>
            <a:endParaRPr lang="en-US" sz="1593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914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8" b="1" dirty="0">
                <a:solidFill>
                  <a:srgbClr val="1E5BD8"/>
                </a:solidFill>
              </a:rPr>
              <a:t>OBJECTIVES</a:t>
            </a:r>
            <a:endParaRPr lang="en-US" sz="1298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188720"/>
            <a:ext cx="64008" cy="493776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118872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💰</a:t>
            </a:r>
            <a:endParaRPr lang="en-US" sz="236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118872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Stay within the budget</a:t>
            </a:r>
            <a:endParaRPr lang="en-US" sz="1416" dirty="0"/>
          </a:p>
        </p:txBody>
      </p:sp>
      <p:sp>
        <p:nvSpPr>
          <p:cNvPr id="20" name="Shape 18"/>
          <p:cNvSpPr/>
          <p:nvPr/>
        </p:nvSpPr>
        <p:spPr>
          <a:xfrm>
            <a:off x="4846320" y="1764792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764792"/>
            <a:ext cx="64008" cy="493776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176479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⭐</a:t>
            </a:r>
            <a:endParaRPr lang="en-US" sz="236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176479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Maximize overall value</a:t>
            </a:r>
            <a:endParaRPr lang="en-US" sz="1416" dirty="0"/>
          </a:p>
        </p:txBody>
      </p:sp>
      <p:sp>
        <p:nvSpPr>
          <p:cNvPr id="24" name="Shape 22"/>
          <p:cNvSpPr/>
          <p:nvPr/>
        </p:nvSpPr>
        <p:spPr>
          <a:xfrm>
            <a:off x="4846320" y="2340864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340864"/>
            <a:ext cx="64008" cy="493776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234086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🧩</a:t>
            </a:r>
            <a:endParaRPr lang="en-US" sz="236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34086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Optimize the combination</a:t>
            </a:r>
            <a:endParaRPr lang="en-US" sz="1416" dirty="0"/>
          </a:p>
        </p:txBody>
      </p:sp>
      <p:sp>
        <p:nvSpPr>
          <p:cNvPr id="28" name="Shape 26"/>
          <p:cNvSpPr/>
          <p:nvPr/>
        </p:nvSpPr>
        <p:spPr>
          <a:xfrm>
            <a:off x="4846320" y="2916936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16936"/>
            <a:ext cx="64008" cy="493776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3480" y="291693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📉</a:t>
            </a:r>
            <a:endParaRPr lang="en-US" sz="236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2916936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Reduce unnecessary spending</a:t>
            </a:r>
            <a:endParaRPr lang="en-US" sz="1416" dirty="0"/>
          </a:p>
        </p:txBody>
      </p:sp>
      <p:sp>
        <p:nvSpPr>
          <p:cNvPr id="32" name="Shape 30"/>
          <p:cNvSpPr/>
          <p:nvPr/>
        </p:nvSpPr>
        <p:spPr>
          <a:xfrm>
            <a:off x="4846320" y="3493008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493008"/>
            <a:ext cx="64008" cy="493776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83480" y="349300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🧮</a:t>
            </a:r>
            <a:endParaRPr lang="en-US" sz="236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349300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Calculate total &amp; remaining</a:t>
            </a:r>
            <a:endParaRPr lang="en-US" sz="1416" dirty="0"/>
          </a:p>
        </p:txBody>
      </p:sp>
      <p:sp>
        <p:nvSpPr>
          <p:cNvPr id="36" name="Shape 34"/>
          <p:cNvSpPr/>
          <p:nvPr/>
        </p:nvSpPr>
        <p:spPr>
          <a:xfrm>
            <a:off x="4846320" y="4069080"/>
            <a:ext cx="384048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4069080"/>
            <a:ext cx="64008" cy="493776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83480" y="406908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📋</a:t>
            </a:r>
            <a:endParaRPr lang="en-US" sz="236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406908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Generate optimized basket</a:t>
            </a:r>
            <a:endParaRPr lang="en-US" sz="1416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Features &amp; Functional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💰</a:t>
            </a:r>
            <a:endParaRPr lang="en-US" sz="236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Enter budget</a:t>
            </a:r>
            <a:endParaRPr lang="en-US" sz="1416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0584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005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🛒</a:t>
            </a:r>
            <a:endParaRPr lang="en-US" sz="236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Add / select products</a:t>
            </a:r>
            <a:endParaRPr lang="en-US" sz="1416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00584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005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💵</a:t>
            </a:r>
            <a:endParaRPr lang="en-US" sz="236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View product prices</a:t>
            </a:r>
            <a:endParaRPr lang="en-US" sz="1416" dirty="0"/>
          </a:p>
        </p:txBody>
      </p:sp>
      <p:sp>
        <p:nvSpPr>
          <p:cNvPr id="15" name="Shape 13"/>
          <p:cNvSpPr/>
          <p:nvPr/>
        </p:nvSpPr>
        <p:spPr>
          <a:xfrm>
            <a:off x="457200" y="17830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78308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⭐</a:t>
            </a:r>
            <a:endParaRPr lang="en-US" sz="236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Assign product value</a:t>
            </a:r>
            <a:endParaRPr lang="en-US" sz="1416" dirty="0"/>
          </a:p>
        </p:txBody>
      </p:sp>
      <p:sp>
        <p:nvSpPr>
          <p:cNvPr id="19" name="Shape 17"/>
          <p:cNvSpPr/>
          <p:nvPr/>
        </p:nvSpPr>
        <p:spPr>
          <a:xfrm>
            <a:off x="3246120" y="17830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78308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🔴</a:t>
            </a:r>
            <a:endParaRPr lang="en-US" sz="236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Set product priority</a:t>
            </a:r>
            <a:endParaRPr lang="en-US" sz="1416" dirty="0"/>
          </a:p>
        </p:txBody>
      </p:sp>
      <p:sp>
        <p:nvSpPr>
          <p:cNvPr id="23" name="Shape 21"/>
          <p:cNvSpPr/>
          <p:nvPr/>
        </p:nvSpPr>
        <p:spPr>
          <a:xfrm>
            <a:off x="6035040" y="17830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78308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17830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🧠</a:t>
            </a:r>
            <a:endParaRPr lang="en-US" sz="236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1783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Optimize combination</a:t>
            </a:r>
            <a:endParaRPr lang="en-US" sz="1416" dirty="0"/>
          </a:p>
        </p:txBody>
      </p:sp>
      <p:sp>
        <p:nvSpPr>
          <p:cNvPr id="27" name="Shape 25"/>
          <p:cNvSpPr/>
          <p:nvPr/>
        </p:nvSpPr>
        <p:spPr>
          <a:xfrm>
            <a:off x="45720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56032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2560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🧮</a:t>
            </a:r>
            <a:endParaRPr lang="en-US" sz="236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Calculate total cost</a:t>
            </a:r>
            <a:endParaRPr lang="en-US" sz="1416" dirty="0"/>
          </a:p>
        </p:txBody>
      </p:sp>
      <p:sp>
        <p:nvSpPr>
          <p:cNvPr id="31" name="Shape 29"/>
          <p:cNvSpPr/>
          <p:nvPr/>
        </p:nvSpPr>
        <p:spPr>
          <a:xfrm>
            <a:off x="324612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56032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83280" y="2560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💰</a:t>
            </a:r>
            <a:endParaRPr lang="en-US" sz="2360" dirty="0"/>
          </a:p>
        </p:txBody>
      </p:sp>
      <p:sp>
        <p:nvSpPr>
          <p:cNvPr id="34" name="Text 32"/>
          <p:cNvSpPr txBox="1"/>
          <p:nvPr/>
        </p:nvSpPr>
        <p:spPr>
          <a:xfrm>
            <a:off x="388620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Show remaining budget</a:t>
            </a:r>
            <a:endParaRPr lang="en-US" sz="1416" dirty="0"/>
          </a:p>
        </p:txBody>
      </p:sp>
      <p:sp>
        <p:nvSpPr>
          <p:cNvPr id="35" name="Shape 33"/>
          <p:cNvSpPr/>
          <p:nvPr/>
        </p:nvSpPr>
        <p:spPr>
          <a:xfrm>
            <a:off x="603504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2560320"/>
            <a:ext cx="64008" cy="6400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25603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60" dirty="0">
                <a:solidFill>
                  <a:srgbClr val="1F2937"/>
                </a:solidFill>
              </a:rPr>
              <a:t>📋</a:t>
            </a:r>
            <a:endParaRPr lang="en-US" sz="236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Display shopping list</a:t>
            </a:r>
            <a:endParaRPr lang="en-US" sz="1416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PRIORITY LEVELS</a:t>
            </a:r>
            <a:endParaRPr lang="en-US" sz="1416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70" b="1" dirty="0">
                <a:solidFill>
                  <a:srgbClr val="FFFFFF"/>
                </a:solidFill>
              </a:rPr>
              <a:t>🔴 Must Have</a:t>
            </a:r>
            <a:endParaRPr lang="en-US" sz="1770" dirty="0"/>
          </a:p>
        </p:txBody>
      </p:sp>
      <p:sp>
        <p:nvSpPr>
          <p:cNvPr id="42" name="Text 40"/>
          <p:cNvSpPr txBox="1"/>
          <p:nvPr/>
        </p:nvSpPr>
        <p:spPr>
          <a:xfrm>
            <a:off x="2743200" y="3749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32" b="1" dirty="0">
                <a:solidFill>
                  <a:srgbClr val="0B2A5B"/>
                </a:solidFill>
              </a:rPr>
              <a:t>→</a:t>
            </a:r>
            <a:endParaRPr lang="en-US" sz="2832" dirty="0"/>
          </a:p>
        </p:txBody>
      </p:sp>
      <p:sp>
        <p:nvSpPr>
          <p:cNvPr id="43" name="Shape 41"/>
          <p:cNvSpPr/>
          <p:nvPr/>
        </p:nvSpPr>
        <p:spPr>
          <a:xfrm>
            <a:off x="3474720" y="374904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7472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70" b="1" dirty="0">
                <a:solidFill>
                  <a:srgbClr val="FFFFFF"/>
                </a:solidFill>
              </a:rPr>
              <a:t>🟡 Important</a:t>
            </a:r>
            <a:endParaRPr lang="en-US" sz="1770" dirty="0"/>
          </a:p>
        </p:txBody>
      </p:sp>
      <p:sp>
        <p:nvSpPr>
          <p:cNvPr id="45" name="Text 43"/>
          <p:cNvSpPr txBox="1"/>
          <p:nvPr/>
        </p:nvSpPr>
        <p:spPr>
          <a:xfrm>
            <a:off x="5760720" y="37490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32" b="1" dirty="0">
                <a:solidFill>
                  <a:srgbClr val="0B2A5B"/>
                </a:solidFill>
              </a:rPr>
              <a:t>→</a:t>
            </a:r>
            <a:endParaRPr lang="en-US" sz="2832" dirty="0"/>
          </a:p>
        </p:txBody>
      </p:sp>
      <p:sp>
        <p:nvSpPr>
          <p:cNvPr id="46" name="Shape 44"/>
          <p:cNvSpPr/>
          <p:nvPr/>
        </p:nvSpPr>
        <p:spPr>
          <a:xfrm>
            <a:off x="6492240" y="3749040"/>
            <a:ext cx="2286000" cy="640080"/>
          </a:xfrm>
          <a:prstGeom prst="roundRect">
            <a:avLst>
              <a:gd name="adj" fmla="val 17143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922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70" b="1" dirty="0">
                <a:solidFill>
                  <a:srgbClr val="FFFFFF"/>
                </a:solidFill>
              </a:rPr>
              <a:t>🟢 Optional</a:t>
            </a:r>
            <a:endParaRPr lang="en-US" sz="17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System Workflow /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30352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1</a:t>
            </a:r>
            <a:endParaRPr lang="en-US" sz="118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👤</a:t>
            </a:r>
            <a:endParaRPr lang="en-US" sz="2596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User</a:t>
            </a:r>
            <a:endParaRPr lang="en-US" sz="1298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→</a:t>
            </a:r>
            <a:endParaRPr lang="en-US" sz="2124" dirty="0"/>
          </a:p>
        </p:txBody>
      </p:sp>
      <p:sp>
        <p:nvSpPr>
          <p:cNvPr id="8" name="Shape 6"/>
          <p:cNvSpPr/>
          <p:nvPr/>
        </p:nvSpPr>
        <p:spPr>
          <a:xfrm>
            <a:off x="2148840" y="1234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21992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2</a:t>
            </a:r>
            <a:endParaRPr lang="en-US" sz="118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💰</a:t>
            </a:r>
            <a:endParaRPr lang="en-US" sz="2596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Enter Budget</a:t>
            </a:r>
            <a:endParaRPr lang="en-US" sz="1298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→</a:t>
            </a:r>
            <a:endParaRPr lang="en-US" sz="2124" dirty="0"/>
          </a:p>
        </p:txBody>
      </p:sp>
      <p:sp>
        <p:nvSpPr>
          <p:cNvPr id="13" name="Shape 11"/>
          <p:cNvSpPr/>
          <p:nvPr/>
        </p:nvSpPr>
        <p:spPr>
          <a:xfrm>
            <a:off x="3840480" y="1234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13632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3</a:t>
            </a:r>
            <a:endParaRPr lang="en-US" sz="118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🛒</a:t>
            </a:r>
            <a:endParaRPr lang="en-US" sz="2596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Select Products</a:t>
            </a:r>
            <a:endParaRPr lang="en-US" sz="1298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→</a:t>
            </a:r>
            <a:endParaRPr lang="en-US" sz="2124" dirty="0"/>
          </a:p>
        </p:txBody>
      </p:sp>
      <p:sp>
        <p:nvSpPr>
          <p:cNvPr id="18" name="Shape 16"/>
          <p:cNvSpPr/>
          <p:nvPr/>
        </p:nvSpPr>
        <p:spPr>
          <a:xfrm>
            <a:off x="5532120" y="1234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05272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4</a:t>
            </a:r>
            <a:endParaRPr lang="en-US" sz="118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💵</a:t>
            </a:r>
            <a:endParaRPr lang="en-US" sz="2596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Enter / View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Price &amp; Value</a:t>
            </a:r>
            <a:endParaRPr lang="en-US" sz="1298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6002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→</a:t>
            </a:r>
            <a:endParaRPr lang="en-US" sz="2124" dirty="0"/>
          </a:p>
        </p:txBody>
      </p:sp>
      <p:sp>
        <p:nvSpPr>
          <p:cNvPr id="23" name="Shape 21"/>
          <p:cNvSpPr/>
          <p:nvPr/>
        </p:nvSpPr>
        <p:spPr>
          <a:xfrm>
            <a:off x="7223760" y="12344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296912" y="1280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5</a:t>
            </a:r>
            <a:endParaRPr lang="en-US" sz="118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🔴</a:t>
            </a:r>
            <a:endParaRPr lang="en-US" sz="2596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Assign Priority</a:t>
            </a:r>
            <a:endParaRPr lang="en-US" sz="1298" dirty="0"/>
          </a:p>
        </p:txBody>
      </p:sp>
      <p:sp>
        <p:nvSpPr>
          <p:cNvPr id="27" name="Shape 25"/>
          <p:cNvSpPr/>
          <p:nvPr/>
        </p:nvSpPr>
        <p:spPr>
          <a:xfrm>
            <a:off x="7223760" y="30632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B2A5B"/>
          </a:solidFill>
          <a:ln w="19050">
            <a:solidFill>
              <a:srgbClr val="0B2A5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96912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59E0B"/>
                </a:solidFill>
              </a:rPr>
              <a:t>6</a:t>
            </a:r>
            <a:endParaRPr lang="en-US" sz="118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⚙️</a:t>
            </a:r>
            <a:endParaRPr lang="en-US" sz="2596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Optimization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Engine</a:t>
            </a:r>
            <a:endParaRPr lang="en-US" sz="1298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←</a:t>
            </a:r>
            <a:endParaRPr lang="en-US" sz="2124" dirty="0"/>
          </a:p>
        </p:txBody>
      </p:sp>
      <p:sp>
        <p:nvSpPr>
          <p:cNvPr id="32" name="Shape 30"/>
          <p:cNvSpPr/>
          <p:nvPr/>
        </p:nvSpPr>
        <p:spPr>
          <a:xfrm>
            <a:off x="5532120" y="30632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B2A5B"/>
          </a:solidFill>
          <a:ln w="19050">
            <a:solidFill>
              <a:srgbClr val="0B2A5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605272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59E0B"/>
                </a:solidFill>
              </a:rPr>
              <a:t>7</a:t>
            </a:r>
            <a:endParaRPr lang="en-US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553212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🧠</a:t>
            </a:r>
            <a:endParaRPr lang="en-US" sz="2596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0/1 Knapsack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+ DP</a:t>
            </a:r>
            <a:endParaRPr lang="en-US" sz="1298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←</a:t>
            </a:r>
            <a:endParaRPr lang="en-US" sz="2124" dirty="0"/>
          </a:p>
        </p:txBody>
      </p:sp>
      <p:sp>
        <p:nvSpPr>
          <p:cNvPr id="37" name="Shape 35"/>
          <p:cNvSpPr/>
          <p:nvPr/>
        </p:nvSpPr>
        <p:spPr>
          <a:xfrm>
            <a:off x="3840480" y="30632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913632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8</a:t>
            </a:r>
            <a:endParaRPr lang="en-US" sz="1180" dirty="0"/>
          </a:p>
        </p:txBody>
      </p:sp>
      <p:sp>
        <p:nvSpPr>
          <p:cNvPr id="39" name="Text 37"/>
          <p:cNvSpPr txBox="1"/>
          <p:nvPr/>
        </p:nvSpPr>
        <p:spPr>
          <a:xfrm>
            <a:off x="384048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✅</a:t>
            </a:r>
            <a:endParaRPr lang="en-US" sz="2596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Check Budget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Constraint</a:t>
            </a:r>
            <a:endParaRPr lang="en-US" sz="1298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←</a:t>
            </a:r>
            <a:endParaRPr lang="en-US" sz="2124" dirty="0"/>
          </a:p>
        </p:txBody>
      </p:sp>
      <p:sp>
        <p:nvSpPr>
          <p:cNvPr id="42" name="Shape 40"/>
          <p:cNvSpPr/>
          <p:nvPr/>
        </p:nvSpPr>
        <p:spPr>
          <a:xfrm>
            <a:off x="2148840" y="30632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2221992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9</a:t>
            </a:r>
            <a:endParaRPr lang="en-US" sz="1180" dirty="0"/>
          </a:p>
        </p:txBody>
      </p:sp>
      <p:sp>
        <p:nvSpPr>
          <p:cNvPr id="44" name="Text 42"/>
          <p:cNvSpPr txBox="1"/>
          <p:nvPr/>
        </p:nvSpPr>
        <p:spPr>
          <a:xfrm>
            <a:off x="214884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🔍</a:t>
            </a:r>
            <a:endParaRPr lang="en-US" sz="2596" dirty="0"/>
          </a:p>
        </p:txBody>
      </p:sp>
      <p:sp>
        <p:nvSpPr>
          <p:cNvPr id="45" name="Text 43"/>
          <p:cNvSpPr txBox="1"/>
          <p:nvPr/>
        </p:nvSpPr>
        <p:spPr>
          <a:xfrm>
            <a:off x="219456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Find Best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0B2A5B"/>
                </a:solidFill>
              </a:rPr>
              <a:t>Combination</a:t>
            </a:r>
            <a:endParaRPr lang="en-US" sz="1298" dirty="0"/>
          </a:p>
        </p:txBody>
      </p:sp>
      <p:sp>
        <p:nvSpPr>
          <p:cNvPr id="46" name="Text 44"/>
          <p:cNvSpPr txBox="1"/>
          <p:nvPr/>
        </p:nvSpPr>
        <p:spPr>
          <a:xfrm>
            <a:off x="1920240" y="34290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24" b="1" dirty="0">
                <a:solidFill>
                  <a:srgbClr val="1E5BD8"/>
                </a:solidFill>
              </a:rPr>
              <a:t>←</a:t>
            </a:r>
            <a:endParaRPr lang="en-US" sz="2124" dirty="0"/>
          </a:p>
        </p:txBody>
      </p:sp>
      <p:sp>
        <p:nvSpPr>
          <p:cNvPr id="47" name="Shape 45"/>
          <p:cNvSpPr/>
          <p:nvPr/>
        </p:nvSpPr>
        <p:spPr>
          <a:xfrm>
            <a:off x="457200" y="30632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0B2A5B"/>
          </a:solidFill>
          <a:ln w="19050">
            <a:solidFill>
              <a:srgbClr val="0B2A5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530352" y="3108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59E0B"/>
                </a:solidFill>
              </a:rPr>
              <a:t>10</a:t>
            </a:r>
            <a:endParaRPr lang="en-US" sz="118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dirty="0">
                <a:solidFill>
                  <a:srgbClr val="1F2937"/>
                </a:solidFill>
              </a:rPr>
              <a:t>📋</a:t>
            </a:r>
            <a:endParaRPr lang="en-US" sz="2596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Smart Shopping</a:t>
            </a:r>
            <a:endParaRPr lang="en-US" sz="1298" dirty="0"/>
          </a:p>
          <a:p>
            <a:pPr marL="0" indent="0" algn="ctr">
              <a:buNone/>
            </a:pPr>
            <a:r>
              <a:rPr lang="en-US" sz="1298" b="1" dirty="0">
                <a:solidFill>
                  <a:srgbClr val="FFFFFF"/>
                </a:solidFill>
              </a:rPr>
              <a:t>Basket</a:t>
            </a:r>
            <a:endParaRPr lang="en-US" sz="1298" dirty="0"/>
          </a:p>
        </p:txBody>
      </p:sp>
      <p:sp>
        <p:nvSpPr>
          <p:cNvPr id="51" name="Text 49"/>
          <p:cNvSpPr txBox="1"/>
          <p:nvPr/>
        </p:nvSpPr>
        <p:spPr>
          <a:xfrm>
            <a:off x="795528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b="1" dirty="0">
                <a:solidFill>
                  <a:srgbClr val="1E5BD8"/>
                </a:solidFill>
              </a:rPr>
              <a:t>↓</a:t>
            </a:r>
            <a:endParaRPr lang="en-US" sz="2596" dirty="0"/>
          </a:p>
        </p:txBody>
      </p:sp>
      <p:sp>
        <p:nvSpPr>
          <p:cNvPr id="52" name="Shape 50"/>
          <p:cNvSpPr/>
          <p:nvPr/>
        </p:nvSpPr>
        <p:spPr>
          <a:xfrm>
            <a:off x="457200" y="4370832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8640" y="43708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9" b="1" dirty="0">
                <a:solidFill>
                  <a:srgbClr val="FFFFFF"/>
                </a:solidFill>
              </a:rPr>
              <a:t>Tech: HTML + CSS + JavaScript (frontend)  →  Python (backend)  →  0/1 Knapsack + DP (engine)</a:t>
            </a:r>
            <a:endParaRPr lang="en-US" sz="1239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0/1 Knapsack using Dynamic Programming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4" b="1" dirty="0">
                <a:solidFill>
                  <a:srgbClr val="FFFFFF"/>
                </a:solidFill>
              </a:rPr>
              <a:t>1</a:t>
            </a:r>
            <a:endParaRPr lang="en-US" sz="1534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058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F2937"/>
                </a:solidFill>
              </a:rPr>
              <a:t>Each product is either selected or rejected</a:t>
            </a:r>
            <a:endParaRPr lang="en-US" sz="1475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4" b="1" dirty="0">
                <a:solidFill>
                  <a:srgbClr val="FFFFFF"/>
                </a:solidFill>
              </a:rPr>
              <a:t>2</a:t>
            </a:r>
            <a:endParaRPr lang="en-US" sz="1534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572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F2937"/>
                </a:solidFill>
              </a:rPr>
              <a:t>The budget is the maximum capacity</a:t>
            </a:r>
            <a:endParaRPr lang="en-US" sz="1475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4" b="1" dirty="0">
                <a:solidFill>
                  <a:srgbClr val="FFFFFF"/>
                </a:solidFill>
              </a:rPr>
              <a:t>3</a:t>
            </a:r>
            <a:endParaRPr lang="en-US" sz="1534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39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F2937"/>
                </a:solidFill>
              </a:rPr>
              <a:t>Price is the cost, value is the benefit</a:t>
            </a:r>
            <a:endParaRPr lang="en-US" sz="1475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4" b="1" dirty="0">
                <a:solidFill>
                  <a:srgbClr val="FFFFFF"/>
                </a:solidFill>
              </a:rPr>
              <a:t>4</a:t>
            </a:r>
            <a:endParaRPr lang="en-US" sz="1534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F2937"/>
                </a:solidFill>
              </a:rPr>
              <a:t>DP builds the answer step by step from smaller budgets</a:t>
            </a:r>
            <a:endParaRPr lang="en-US" sz="1475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4" b="1" dirty="0">
                <a:solidFill>
                  <a:srgbClr val="FFFFFF"/>
                </a:solidFill>
              </a:rPr>
              <a:t>5</a:t>
            </a:r>
            <a:endParaRPr lang="en-US" sz="1534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735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5" dirty="0">
                <a:solidFill>
                  <a:srgbClr val="1F2937"/>
                </a:solidFill>
              </a:rPr>
              <a:t>Result: maximum total value without exceeding the budget</a:t>
            </a:r>
            <a:endParaRPr lang="en-US" sz="1475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KNAPSACK ↔ SHOPPING</a:t>
            </a:r>
            <a:endParaRPr lang="en-US" sz="1416" dirty="0"/>
          </a:p>
        </p:txBody>
      </p:sp>
      <p:sp>
        <p:nvSpPr>
          <p:cNvPr id="19" name="Shape 17"/>
          <p:cNvSpPr/>
          <p:nvPr/>
        </p:nvSpPr>
        <p:spPr>
          <a:xfrm>
            <a:off x="4846320" y="13258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325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💰  Budget</a:t>
            </a:r>
            <a:endParaRPr lang="en-US" sz="1416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325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88" b="1" dirty="0">
                <a:solidFill>
                  <a:srgbClr val="F59E0B"/>
                </a:solidFill>
              </a:rPr>
              <a:t>→</a:t>
            </a:r>
            <a:endParaRPr lang="en-US" sz="1888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Capacity</a:t>
            </a:r>
            <a:endParaRPr lang="en-US" sz="1416" dirty="0"/>
          </a:p>
        </p:txBody>
      </p:sp>
      <p:sp>
        <p:nvSpPr>
          <p:cNvPr id="23" name="Shape 21"/>
          <p:cNvSpPr/>
          <p:nvPr/>
        </p:nvSpPr>
        <p:spPr>
          <a:xfrm>
            <a:off x="4846320" y="189280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1892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💵  Price</a:t>
            </a:r>
            <a:endParaRPr lang="en-US" sz="1416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8928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88" b="1" dirty="0">
                <a:solidFill>
                  <a:srgbClr val="F59E0B"/>
                </a:solidFill>
              </a:rPr>
              <a:t>→</a:t>
            </a:r>
            <a:endParaRPr lang="en-US" sz="1888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1892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Cost</a:t>
            </a:r>
            <a:endParaRPr lang="en-US" sz="1416" dirty="0"/>
          </a:p>
        </p:txBody>
      </p:sp>
      <p:sp>
        <p:nvSpPr>
          <p:cNvPr id="27" name="Shape 25"/>
          <p:cNvSpPr/>
          <p:nvPr/>
        </p:nvSpPr>
        <p:spPr>
          <a:xfrm>
            <a:off x="4846320" y="2459736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24597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⭐  Value</a:t>
            </a:r>
            <a:endParaRPr lang="en-US" sz="1416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24597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88" b="1" dirty="0">
                <a:solidFill>
                  <a:srgbClr val="F59E0B"/>
                </a:solidFill>
              </a:rPr>
              <a:t>→</a:t>
            </a:r>
            <a:endParaRPr lang="en-US" sz="1888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2459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Benefit</a:t>
            </a:r>
            <a:endParaRPr lang="en-US" sz="1416" dirty="0"/>
          </a:p>
        </p:txBody>
      </p:sp>
      <p:sp>
        <p:nvSpPr>
          <p:cNvPr id="31" name="Shape 29"/>
          <p:cNvSpPr/>
          <p:nvPr/>
        </p:nvSpPr>
        <p:spPr>
          <a:xfrm>
            <a:off x="4846320" y="3026664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0266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0B2A5B"/>
                </a:solidFill>
              </a:rPr>
              <a:t>🔢  Selected / Not</a:t>
            </a:r>
            <a:endParaRPr lang="en-US" sz="1416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30266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88" b="1" dirty="0">
                <a:solidFill>
                  <a:srgbClr val="F59E0B"/>
                </a:solidFill>
              </a:rPr>
              <a:t>→</a:t>
            </a:r>
            <a:endParaRPr lang="en-US" sz="1888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026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1E5BD8"/>
                </a:solidFill>
              </a:rPr>
              <a:t>1 / 0</a:t>
            </a:r>
            <a:endParaRPr lang="en-US" sz="1416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4" b="1" dirty="0">
                <a:solidFill>
                  <a:srgbClr val="FFFFFF"/>
                </a:solidFill>
              </a:rPr>
              <a:t>For every product, choose:</a:t>
            </a:r>
            <a:endParaRPr lang="en-US" sz="1534" dirty="0"/>
          </a:p>
        </p:txBody>
      </p:sp>
      <p:sp>
        <p:nvSpPr>
          <p:cNvPr id="37" name="Shape 35"/>
          <p:cNvSpPr/>
          <p:nvPr/>
        </p:nvSpPr>
        <p:spPr>
          <a:xfrm>
            <a:off x="3108960" y="406908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0896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6" b="1" dirty="0">
                <a:solidFill>
                  <a:srgbClr val="FFFFFF"/>
                </a:solidFill>
              </a:rPr>
              <a:t>✔ Include it</a:t>
            </a:r>
            <a:endParaRPr lang="en-US" sz="1416" dirty="0"/>
          </a:p>
        </p:txBody>
      </p:sp>
      <p:sp>
        <p:nvSpPr>
          <p:cNvPr id="39" name="Text 37"/>
          <p:cNvSpPr txBox="1"/>
          <p:nvPr/>
        </p:nvSpPr>
        <p:spPr>
          <a:xfrm>
            <a:off x="5303520" y="40690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70" b="1" dirty="0">
                <a:solidFill>
                  <a:srgbClr val="F59E0B"/>
                </a:solidFill>
              </a:rPr>
              <a:t>OR</a:t>
            </a:r>
            <a:endParaRPr lang="en-US" sz="1770" dirty="0"/>
          </a:p>
        </p:txBody>
      </p:sp>
      <p:sp>
        <p:nvSpPr>
          <p:cNvPr id="40" name="Shape 38"/>
          <p:cNvSpPr/>
          <p:nvPr/>
        </p:nvSpPr>
        <p:spPr>
          <a:xfrm>
            <a:off x="6035040" y="406908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350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16" b="1" dirty="0">
                <a:solidFill>
                  <a:srgbClr val="FFFFFF"/>
                </a:solidFill>
              </a:rPr>
              <a:t>✘ Exclude it</a:t>
            </a:r>
            <a:endParaRPr lang="en-US" sz="1416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Results, Testing &amp;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120640" cy="274320"/>
          </a:xfrm>
          <a:prstGeom prst="rect">
            <a:avLst/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16" b="1" dirty="0">
                <a:solidFill>
                  <a:srgbClr val="FFFFFF"/>
                </a:solidFill>
              </a:rPr>
              <a:t>🛒 Sample Run — User Budget: ₹1,000</a:t>
            </a:r>
            <a:endParaRPr lang="en-US" sz="1416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148132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Selected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Rice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₹300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Must Have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Milk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₹100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Must Have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Fruits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₹250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Important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Snacks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₹200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Optional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</a:rPr>
                        <a:t>Oil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₹500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</a:rPr>
                        <a:t>Important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8" i="1" dirty="0">
                <a:solidFill>
                  <a:srgbClr val="0B2A5B"/>
                </a:solidFill>
              </a:rPr>
              <a:t>Selects Rice + Milk + Fruits + Snacks: value 24 within the ₹1,000 budget.</a:t>
            </a:r>
            <a:endParaRPr lang="en-US" sz="1298" dirty="0"/>
          </a:p>
        </p:txBody>
      </p:sp>
      <p:sp>
        <p:nvSpPr>
          <p:cNvPr id="5" name="Text 4"/>
          <p:cNvSpPr txBox="1"/>
          <p:nvPr/>
        </p:nvSpPr>
        <p:spPr>
          <a:xfrm>
            <a:off x="45720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8" b="1" dirty="0">
                <a:solidFill>
                  <a:srgbClr val="1E5BD8"/>
                </a:solidFill>
              </a:rPr>
              <a:t>TESTING</a:t>
            </a:r>
            <a:endParaRPr lang="en-US" sz="1298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5120640" cy="1143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Budget validation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Total ≤ Budget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Product selection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Valid combination selected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Cost calculation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Correct total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Optimization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Maximum value within budget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</a:rPr>
                        <a:t>✓ Pass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852160" y="96012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8521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Budget</a:t>
            </a:r>
            <a:endParaRPr lang="en-US" sz="1298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4" b="1" dirty="0">
                <a:solidFill>
                  <a:srgbClr val="FFFFFF"/>
                </a:solidFill>
              </a:rPr>
              <a:t>₹1,000</a:t>
            </a:r>
            <a:endParaRPr lang="en-US" sz="3304" dirty="0"/>
          </a:p>
        </p:txBody>
      </p:sp>
      <p:sp>
        <p:nvSpPr>
          <p:cNvPr id="12" name="Shape 8"/>
          <p:cNvSpPr/>
          <p:nvPr/>
        </p:nvSpPr>
        <p:spPr>
          <a:xfrm>
            <a:off x="7315200" y="96012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9"/>
          <p:cNvSpPr txBox="1"/>
          <p:nvPr/>
        </p:nvSpPr>
        <p:spPr>
          <a:xfrm>
            <a:off x="731520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Total Cost</a:t>
            </a:r>
            <a:endParaRPr lang="en-US" sz="1298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4" b="1" dirty="0">
                <a:solidFill>
                  <a:srgbClr val="FFFFFF"/>
                </a:solidFill>
              </a:rPr>
              <a:t>₹850</a:t>
            </a:r>
            <a:endParaRPr lang="en-US" sz="3304" dirty="0"/>
          </a:p>
        </p:txBody>
      </p:sp>
      <p:sp>
        <p:nvSpPr>
          <p:cNvPr id="15" name="Shape 11"/>
          <p:cNvSpPr/>
          <p:nvPr/>
        </p:nvSpPr>
        <p:spPr>
          <a:xfrm>
            <a:off x="5852160" y="224028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8521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Remaining</a:t>
            </a:r>
            <a:endParaRPr lang="en-US" sz="1298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4" b="1" dirty="0">
                <a:solidFill>
                  <a:srgbClr val="FFFFFF"/>
                </a:solidFill>
              </a:rPr>
              <a:t>₹150</a:t>
            </a:r>
            <a:endParaRPr lang="en-US" sz="3304" dirty="0"/>
          </a:p>
        </p:txBody>
      </p:sp>
      <p:sp>
        <p:nvSpPr>
          <p:cNvPr id="18" name="Shape 14"/>
          <p:cNvSpPr/>
          <p:nvPr/>
        </p:nvSpPr>
        <p:spPr>
          <a:xfrm>
            <a:off x="7315200" y="2240280"/>
            <a:ext cx="1371600" cy="11430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dirty="0">
                <a:solidFill>
                  <a:srgbClr val="FFFFFF"/>
                </a:solidFill>
              </a:rPr>
              <a:t>Total Value</a:t>
            </a:r>
            <a:endParaRPr lang="en-US" sz="1298" dirty="0"/>
          </a:p>
        </p:txBody>
      </p:sp>
      <p:sp>
        <p:nvSpPr>
          <p:cNvPr id="20" name="Text 16"/>
          <p:cNvSpPr txBox="1"/>
          <p:nvPr/>
        </p:nvSpPr>
        <p:spPr>
          <a:xfrm>
            <a:off x="731520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4" b="1" dirty="0">
                <a:solidFill>
                  <a:srgbClr val="FFFFFF"/>
                </a:solidFill>
              </a:rPr>
              <a:t>24</a:t>
            </a:r>
            <a:endParaRPr lang="en-US" sz="3304" dirty="0"/>
          </a:p>
        </p:txBody>
      </p:sp>
      <p:sp>
        <p:nvSpPr>
          <p:cNvPr id="21" name="Shape 17"/>
          <p:cNvSpPr/>
          <p:nvPr/>
        </p:nvSpPr>
        <p:spPr>
          <a:xfrm>
            <a:off x="5852160" y="352044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89320" y="3566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4" b="1" dirty="0">
                <a:solidFill>
                  <a:srgbClr val="16A34A"/>
                </a:solidFill>
              </a:rPr>
              <a:t>✓ Optimal basket
</a:t>
            </a:r>
            <a:r>
              <a:rPr lang="en-US" sz="1239" dirty="0">
                <a:solidFill>
                  <a:srgbClr val="1F2937"/>
                </a:solidFill>
              </a:rPr>
              <a:t>Oil (₹500, value 9) is rejected: with Rice and Milk it gives value 22 &lt; 24.</a:t>
            </a:r>
            <a:endParaRPr lang="en-US" sz="141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685800" y="274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5B"/>
                </a:solidFill>
              </a:rPr>
              <a:t>Conclusion, Future Scope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1E5BD8"/>
          </a:solidFill>
          <a:ln w="9525">
            <a:solidFill>
              <a:srgbClr val="1E5B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4" b="1" dirty="0">
                <a:solidFill>
                  <a:srgbClr val="FFFFFF"/>
                </a:solidFill>
              </a:rPr>
              <a:t>✅ Conclusion</a:t>
            </a:r>
            <a:endParaRPr lang="en-US" sz="1534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1732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Helps users shop within a fixed budget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Selects a high-value product combination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Uses 0/1 Knapsack with Dynamic Programming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Reduces unnecessary spending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Makes shopping decisions easier</a:t>
            </a:r>
            <a:endParaRPr lang="en-US" sz="1475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B7CBE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4" b="1" dirty="0">
                <a:solidFill>
                  <a:srgbClr val="FFFFFF"/>
                </a:solidFill>
              </a:rPr>
              <a:t>🚀 Future Scope</a:t>
            </a:r>
            <a:endParaRPr lang="en-US" sz="1534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41732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Real-time online price comparison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Discount and coupon detection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AI-based personalized recommendations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Price prediction  •  Mobile application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Nearby-store comparison</a:t>
            </a:r>
            <a:endParaRPr lang="en-US" sz="1475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75" dirty="0">
                <a:solidFill>
                  <a:srgbClr val="1F2937"/>
                </a:solidFill>
              </a:rPr>
              <a:t>Integration with online shopping platforms</a:t>
            </a:r>
            <a:endParaRPr lang="en-US" sz="1475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10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E5BD8"/>
                </a:solidFill>
              </a:rPr>
              <a:t>REFERENCES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39" dirty="0">
                <a:solidFill>
                  <a:srgbClr val="1F2937"/>
                </a:solidFill>
              </a:rPr>
              <a:t>Cormen, Leiserson, Rivest, Stein — Introduction to Algorithms (Dynamic Programming, 0/1 Knapsack), MIT Press</a:t>
            </a:r>
            <a:endParaRPr lang="en-US" sz="1239" dirty="0"/>
          </a:p>
          <a:p>
            <a:pPr marL="342900" indent="-342900">
              <a:buSzPct val="100000"/>
              <a:buChar char="•"/>
            </a:pPr>
            <a:r>
              <a:rPr lang="en-US" sz="1239" dirty="0">
                <a:solidFill>
                  <a:srgbClr val="1F2937"/>
                </a:solidFill>
              </a:rPr>
              <a:t>Kellerer, Pferschy, Pisinger — Knapsack Problems, Springer, 2004</a:t>
            </a:r>
            <a:endParaRPr lang="en-US" sz="1239" dirty="0"/>
          </a:p>
          <a:p>
            <a:pPr marL="342900" indent="-342900">
              <a:buSzPct val="100000"/>
              <a:buChar char="•"/>
            </a:pPr>
            <a:r>
              <a:rPr lang="en-US" sz="1239" dirty="0">
                <a:solidFill>
                  <a:srgbClr val="1F2937"/>
                </a:solidFill>
              </a:rPr>
              <a:t>Python docs (docs.python.org)  |  MDN Web Docs (developer.mozilla.org)</a:t>
            </a:r>
            <a:endParaRPr lang="en-US" sz="1239" dirty="0"/>
          </a:p>
        </p:txBody>
      </p:sp>
      <p:sp>
        <p:nvSpPr>
          <p:cNvPr id="13" name="Shape 11"/>
          <p:cNvSpPr/>
          <p:nvPr/>
        </p:nvSpPr>
        <p:spPr>
          <a:xfrm>
            <a:off x="0" y="4279392"/>
            <a:ext cx="9144000" cy="868680"/>
          </a:xfrm>
          <a:prstGeom prst="rect">
            <a:avLst/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279392"/>
            <a:ext cx="9144000" cy="4572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0" y="433425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96" b="1" dirty="0">
                <a:solidFill>
                  <a:srgbClr val="FFFFFF"/>
                </a:solidFill>
              </a:rPr>
              <a:t>THANK YOU</a:t>
            </a:r>
            <a:r>
              <a:rPr lang="en-US" sz="1888" b="1" dirty="0">
                <a:solidFill>
                  <a:srgbClr val="F59E0B"/>
                </a:solidFill>
              </a:rPr>
              <a:t>   </a:t>
            </a:r>
            <a:endParaRPr lang="en-US" sz="1416" dirty="0"/>
          </a:p>
        </p:txBody>
      </p:sp>
      <p:sp>
        <p:nvSpPr>
          <p:cNvPr id="16" name="Text 14"/>
          <p:cNvSpPr txBox="1"/>
          <p:nvPr/>
        </p:nvSpPr>
        <p:spPr>
          <a:xfrm>
            <a:off x="0" y="47000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98" i="1" dirty="0">
                <a:solidFill>
                  <a:srgbClr val="BFD4F6"/>
                </a:solidFill>
              </a:rPr>
              <a:t>“Spend Wisely. Shop Intelligently.”</a:t>
            </a:r>
            <a:endParaRPr lang="en-US" sz="129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BA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dget Shopping Optimizer">
  <a:themeElements>
    <a:clrScheme name="Budget Shopping Optimizer">
      <a:dk1>
        <a:srgbClr val="1F2937"/>
      </a:dk1>
      <a:lt1>
        <a:srgbClr val="FFFFFF"/>
      </a:lt1>
      <a:dk2>
        <a:srgbClr val="0B2A5B"/>
      </a:dk2>
      <a:lt2>
        <a:srgbClr val="EAF1FB"/>
      </a:lt2>
      <a:accent1>
        <a:srgbClr val="1E5BD8"/>
      </a:accent1>
      <a:accent2>
        <a:srgbClr val="F59E0B"/>
      </a:accent2>
      <a:accent3>
        <a:srgbClr val="16A34A"/>
      </a:accent3>
      <a:accent4>
        <a:srgbClr val="DC2626"/>
      </a:accent4>
      <a:accent5>
        <a:srgbClr val="0EA5E9"/>
      </a:accent5>
      <a:accent6>
        <a:srgbClr val="7C3AED"/>
      </a:accent6>
      <a:hlink>
        <a:srgbClr val="1E5BD8"/>
      </a:hlink>
      <a:folHlink>
        <a:srgbClr val="7C3AED"/>
      </a:folHlink>
    </a:clrScheme>
    <a:fontScheme name="Budget Shopping Optimiz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633</Words>
  <Application>Microsoft Office PowerPoint</Application>
  <PresentationFormat>On-screen Show (16:9)</PresentationFormat>
  <Paragraphs>224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Budget Shopping Optimizer</vt:lpstr>
      <vt:lpstr>PowerPoint Presentation</vt:lpstr>
      <vt:lpstr>Abstract, Problem &amp; Objectives</vt:lpstr>
      <vt:lpstr>Features &amp; Functional Requirements</vt:lpstr>
      <vt:lpstr>System Workflow / Methodology</vt:lpstr>
      <vt:lpstr>0/1 Knapsack using Dynamic Programming</vt:lpstr>
      <vt:lpstr>Results, Testing &amp; Performance</vt:lpstr>
      <vt:lpstr>Conclusion, Future Scope &amp;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RAJARAPU AMULYA</cp:lastModifiedBy>
  <cp:revision>3</cp:revision>
  <dcterms:created xsi:type="dcterms:W3CDTF">2026-10-03T05:04:32Z</dcterms:created>
  <dcterms:modified xsi:type="dcterms:W3CDTF">2026-10-03T07:00:11Z</dcterms:modified>
</cp:coreProperties>
</file>